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640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ap_niches" descr="map_ni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000"/>
            <a:ext cx="2160000" cy="1571040"/>
          </a:xfrm>
          <a:prstGeom prst="rect">
            <a:avLst/>
          </a:prstGeom>
        </p:spPr>
      </p:pic>
      <p:pic>
        <p:nvPicPr>
          <p:cNvPr id="3" name="legend_niche" descr="legend_nich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00000"/>
            <a:ext cx="2160000" cy="144000"/>
          </a:xfrm>
          <a:prstGeom prst="rect">
            <a:avLst/>
          </a:prstGeom>
        </p:spPr>
      </p:pic>
      <p:pic>
        <p:nvPicPr>
          <p:cNvPr id="4" name="niche_enrich" descr="niche_enri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2000" y="108000"/>
            <a:ext cx="2232000" cy="2016000"/>
          </a:xfrm>
          <a:prstGeom prst="rect">
            <a:avLst/>
          </a:prstGeom>
        </p:spPr>
      </p:pic>
      <p:pic>
        <p:nvPicPr>
          <p:cNvPr id="5" name="cbar_enrich" descr="cbar_enri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8000" y="2142000"/>
            <a:ext cx="1080000" cy="252000"/>
          </a:xfrm>
          <a:prstGeom prst="rect">
            <a:avLst/>
          </a:prstGeom>
        </p:spPr>
      </p:pic>
      <p:pic>
        <p:nvPicPr>
          <p:cNvPr id="6" name="acta2" descr="acta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8000" y="180000"/>
            <a:ext cx="1368000" cy="1746000"/>
          </a:xfrm>
          <a:prstGeom prst="rect">
            <a:avLst/>
          </a:prstGeom>
        </p:spPr>
      </p:pic>
      <p:pic>
        <p:nvPicPr>
          <p:cNvPr id="7" name="cbar_acta2" descr="cbar_acta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6000" y="1962000"/>
            <a:ext cx="936000" cy="252000"/>
          </a:xfrm>
          <a:prstGeom prst="rect">
            <a:avLst/>
          </a:prstGeom>
        </p:spPr>
      </p:pic>
      <p:pic>
        <p:nvPicPr>
          <p:cNvPr id="8" name="corr_main" descr="corr_m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000" y="2664000"/>
            <a:ext cx="1728000" cy="1728000"/>
          </a:xfrm>
          <a:prstGeom prst="rect">
            <a:avLst/>
          </a:prstGeom>
        </p:spPr>
      </p:pic>
      <p:pic>
        <p:nvPicPr>
          <p:cNvPr id="9" name="corr_contrast" descr="corr_contra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4000" y="2664000"/>
            <a:ext cx="1728000" cy="1728000"/>
          </a:xfrm>
          <a:prstGeom prst="rect">
            <a:avLst/>
          </a:prstGeom>
        </p:spPr>
      </p:pic>
      <p:pic>
        <p:nvPicPr>
          <p:cNvPr id="10" name="cbar_corr" descr="cbar_cor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000" y="4428000"/>
            <a:ext cx="1080000" cy="252000"/>
          </a:xfrm>
          <a:prstGeom prst="rect">
            <a:avLst/>
          </a:prstGeom>
        </p:spPr>
      </p:pic>
      <p:pic>
        <p:nvPicPr>
          <p:cNvPr id="11" name="ex_query" descr="ex_quer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5076000"/>
            <a:ext cx="360000" cy="360000"/>
          </a:xfrm>
          <a:prstGeom prst="rect">
            <a:avLst/>
          </a:prstGeom>
        </p:spPr>
      </p:pic>
      <p:pic>
        <p:nvPicPr>
          <p:cNvPr id="12" name="ex_hit1" descr="ex_hit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6000" y="5076000"/>
            <a:ext cx="360000" cy="360000"/>
          </a:xfrm>
          <a:prstGeom prst="rect">
            <a:avLst/>
          </a:prstGeom>
        </p:spPr>
      </p:pic>
      <p:pic>
        <p:nvPicPr>
          <p:cNvPr id="13" name="ex_hit2" descr="ex_hit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000" y="5076000"/>
            <a:ext cx="360000" cy="360000"/>
          </a:xfrm>
          <a:prstGeom prst="rect">
            <a:avLst/>
          </a:prstGeom>
        </p:spPr>
      </p:pic>
      <p:pic>
        <p:nvPicPr>
          <p:cNvPr id="14" name="ex_hit3" descr="ex_hit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88000" y="5076000"/>
            <a:ext cx="360000" cy="360000"/>
          </a:xfrm>
          <a:prstGeom prst="rect">
            <a:avLst/>
          </a:prstGeom>
        </p:spPr>
      </p:pic>
      <p:pic>
        <p:nvPicPr>
          <p:cNvPr id="15" name="ex_hit4" descr="ex_hit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84000" y="5076000"/>
            <a:ext cx="360000" cy="360000"/>
          </a:xfrm>
          <a:prstGeom prst="rect">
            <a:avLst/>
          </a:prstGeom>
        </p:spPr>
      </p:pic>
      <p:pic>
        <p:nvPicPr>
          <p:cNvPr id="16" name="ex_hit5" descr="ex_hit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80000" y="5076000"/>
            <a:ext cx="360000" cy="360000"/>
          </a:xfrm>
          <a:prstGeom prst="rect">
            <a:avLst/>
          </a:prstGeom>
        </p:spPr>
      </p:pic>
      <p:pic>
        <p:nvPicPr>
          <p:cNvPr id="17" name="ex_hit6" descr="ex_hit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6000" y="5580000"/>
            <a:ext cx="360000" cy="360000"/>
          </a:xfrm>
          <a:prstGeom prst="rect">
            <a:avLst/>
          </a:prstGeom>
        </p:spPr>
      </p:pic>
      <p:pic>
        <p:nvPicPr>
          <p:cNvPr id="18" name="ex_hit7" descr="ex_hit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2000" y="5580000"/>
            <a:ext cx="360000" cy="360000"/>
          </a:xfrm>
          <a:prstGeom prst="rect">
            <a:avLst/>
          </a:prstGeom>
        </p:spPr>
      </p:pic>
      <p:pic>
        <p:nvPicPr>
          <p:cNvPr id="19" name="ex_hit8" descr="ex_hit8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88000" y="5580000"/>
            <a:ext cx="360000" cy="360000"/>
          </a:xfrm>
          <a:prstGeom prst="rect">
            <a:avLst/>
          </a:prstGeom>
        </p:spPr>
      </p:pic>
      <p:pic>
        <p:nvPicPr>
          <p:cNvPr id="20" name="ex_hit9" descr="ex_hit9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84000" y="5580000"/>
            <a:ext cx="360000" cy="360000"/>
          </a:xfrm>
          <a:prstGeom prst="rect">
            <a:avLst/>
          </a:prstGeom>
        </p:spPr>
      </p:pic>
      <p:pic>
        <p:nvPicPr>
          <p:cNvPr id="21" name="ex_hit10" descr="ex_hit10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80000" y="5580000"/>
            <a:ext cx="360000" cy="360000"/>
          </a:xfrm>
          <a:prstGeom prst="rect">
            <a:avLst/>
          </a:prstGeom>
        </p:spPr>
      </p:pic>
      <p:pic>
        <p:nvPicPr>
          <p:cNvPr id="22" name="legend_class" descr="legend_class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6084000"/>
            <a:ext cx="2376000" cy="324000"/>
          </a:xfrm>
          <a:prstGeom prst="rect">
            <a:avLst/>
          </a:prstGeom>
        </p:spPr>
      </p:pic>
      <p:pic>
        <p:nvPicPr>
          <p:cNvPr id="23" name="ex_comp" descr="ex_comp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448000" y="4896000"/>
            <a:ext cx="936000" cy="1440000"/>
          </a:xfrm>
          <a:prstGeom prst="rect">
            <a:avLst/>
          </a:prstGeom>
        </p:spPr>
      </p:pic>
      <p:pic>
        <p:nvPicPr>
          <p:cNvPr id="24" name="tv_base" descr="tv_bas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84000" y="4896000"/>
            <a:ext cx="864000" cy="1440000"/>
          </a:xfrm>
          <a:prstGeom prst="rect">
            <a:avLst/>
          </a:prstGeom>
        </p:spPr>
      </p:pic>
      <p:pic>
        <p:nvPicPr>
          <p:cNvPr id="25" name="sig_delta" descr="sig_delta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56000" y="4896000"/>
            <a:ext cx="1044000" cy="1440000"/>
          </a:xfrm>
          <a:prstGeom prst="rect">
            <a:avLst/>
          </a:prstGeom>
        </p:spPr>
      </p:pic>
      <p:pic>
        <p:nvPicPr>
          <p:cNvPr id="26" name="sig_cov" descr="sig_cov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400000" y="4896000"/>
            <a:ext cx="1044000" cy="1440000"/>
          </a:xfrm>
          <a:prstGeom prst="rect">
            <a:avLst/>
          </a:prstGeom>
        </p:spPr>
      </p:pic>
      <p:pic>
        <p:nvPicPr>
          <p:cNvPr id="27" name="legend_sig" descr="legend_sig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860000" y="4752000"/>
            <a:ext cx="1440000" cy="144000"/>
          </a:xfrm>
          <a:prstGeom prst="rect">
            <a:avLst/>
          </a:prstGeom>
        </p:spPr>
      </p:pic>
      <p:pic>
        <p:nvPicPr>
          <p:cNvPr id="28" name="covariation" descr="covariation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840000" y="180000"/>
            <a:ext cx="1728000" cy="1512000"/>
          </a:xfrm>
          <a:prstGeom prst="rect">
            <a:avLst/>
          </a:prstGeom>
        </p:spPr>
      </p:pic>
      <p:pic>
        <p:nvPicPr>
          <p:cNvPr id="29" name="legend_cov" descr="legend_cov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840000" y="1980000"/>
            <a:ext cx="1728000" cy="252000"/>
          </a:xfrm>
          <a:prstGeom prst="rect">
            <a:avLst/>
          </a:prstGeom>
        </p:spPr>
      </p:pic>
      <p:pic>
        <p:nvPicPr>
          <p:cNvPr id="30" name="sig_map_Endothelial_Vascular" descr="sig_map_Endothelial_Vascular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840000" y="2340000"/>
            <a:ext cx="1584000" cy="1152360"/>
          </a:xfrm>
          <a:prstGeom prst="rect">
            <a:avLst/>
          </a:prstGeom>
        </p:spPr>
      </p:pic>
      <p:pic>
        <p:nvPicPr>
          <p:cNvPr id="31" name="cbar_sig_Endothelial_Vascular" descr="cbar_sig_Endothelial_Vascular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840000" y="4140000"/>
            <a:ext cx="864000" cy="252000"/>
          </a:xfrm>
          <a:prstGeom prst="rect">
            <a:avLst/>
          </a:prstGeom>
        </p:spPr>
      </p:pic>
      <p:pic>
        <p:nvPicPr>
          <p:cNvPr id="32" name="sig_map_Proliferation_Signature" descr="sig_map_Proliferation_Signatur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840000" y="4500000"/>
            <a:ext cx="1584000" cy="1152360"/>
          </a:xfrm>
          <a:prstGeom prst="rect">
            <a:avLst/>
          </a:prstGeom>
        </p:spPr>
      </p:pic>
      <p:pic>
        <p:nvPicPr>
          <p:cNvPr id="33" name="cbar_sig_Proliferation_Signature" descr="cbar_sig_Proliferation_Signatur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840000" y="6300000"/>
            <a:ext cx="864000" cy="252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0" y="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8000" y="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2412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0" y="4752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84000" y="4752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88000" y="0"/>
            <a:ext cx="1692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r with ACTA2 (○ same block)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68000" y="-18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Niche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8000" y="-18000"/>
            <a:ext cx="50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Section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66000" y="2160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log2 enrichment over section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4000" y="2502000"/>
            <a:ext cx="172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1A1A1A"/>
                </a:solidFill>
                <a:latin typeface="Arial"/>
              </a:rPr>
              <a:t>Niche 1, its blocks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4000" y="2502000"/>
            <a:ext cx="172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1A1A1A"/>
                </a:solidFill>
                <a:latin typeface="Arial"/>
              </a:rPr>
              <a:t>Niche 2, in niche 1's order and blocks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84000" y="4456800"/>
            <a:ext cx="144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Correlation (niche mean)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0000" y="4770000"/>
            <a:ext cx="21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Held-out query and its top 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0" y="54432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Query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6000" y="4968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2000" y="4968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8000" y="4968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84000" y="4968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80000" y="4968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6000" y="5472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2000" y="5472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88000" y="5472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84000" y="5472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80000" y="5472000"/>
            <a:ext cx="36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0" y="3220044"/>
            <a:ext cx="14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0" y="3385667"/>
            <a:ext cx="14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0" y="3476760"/>
            <a:ext cx="14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0" y="3567853"/>
            <a:ext cx="14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0" y="3667226"/>
            <a:ext cx="14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0" y="3849412"/>
            <a:ext cx="14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0" y="3957067"/>
            <a:ext cx="14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0" y="4180658"/>
            <a:ext cx="14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44000" y="2484000"/>
            <a:ext cx="2736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Co-varying blocks: hub genes; term (FDR), its block genes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44000" y="2628000"/>
            <a:ext cx="2736000" cy="18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  AQP1, PECAM1, VWF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2  CD3E, PTPRC, CCL5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    Allograft Rejection (FDR 1e-02): IL2RG, GZMA, CD8A, CCL5, CD3E, PTPRC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3  APOC1, CXCL16, PDK4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    Microglial Cell Activation (FDR 1e-02): CX3CR1, TYROBP, ITGAM, C1QA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4  FCER1G, LYZ, CD4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5  LUM, POSTN, CCDC80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    Epithelial Mesenchymal Transition (FDR 8e-07): FSTL3, BASP1, LRRC15, SFRP4, FBLN1, CXCL12, …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6  KRT14, MYLK, KRT5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    Intermediate Filament Organization (FDR 2e-03): KRT16, KRT15, KRT6B, KRT5, KRT14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7  TOP2A, RTKN2, PCLAF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    G2-M Checkpoint (FDR 3e-04): MKI67, TOP2A, CENPF, HMGA1, SQLE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8  ERBB2, EPCAM, CEACAM6</a:t>
            </a:r>
          </a:p>
          <a:p>
            <a:r>
              <a:rPr sz="600" b="0">
                <a:solidFill>
                  <a:srgbClr val="1A1A1A"/>
                </a:solidFill>
                <a:latin typeface="Arial"/>
              </a:rPr>
              <a:t>    Androgen Response (FDR 3e-02): SMS, TPD52, SCD, CCND1, KRT8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