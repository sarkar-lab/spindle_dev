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480000" cy="81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Relationship Id="rId16" Type="http://schemas.openxmlformats.org/officeDocument/2006/relationships/image" Target="../media/image58.png"/><Relationship Id="rId17" Type="http://schemas.openxmlformats.org/officeDocument/2006/relationships/image" Target="../media/image59.png"/><Relationship Id="rId18" Type="http://schemas.openxmlformats.org/officeDocument/2006/relationships/image" Target="../media/image60.png"/><Relationship Id="rId19" Type="http://schemas.openxmlformats.org/officeDocument/2006/relationships/image" Target="../media/image61.png"/><Relationship Id="rId20" Type="http://schemas.openxmlformats.org/officeDocument/2006/relationships/image" Target="../media/image62.png"/><Relationship Id="rId21" Type="http://schemas.openxmlformats.org/officeDocument/2006/relationships/image" Target="../media/image63.png"/><Relationship Id="rId22" Type="http://schemas.openxmlformats.org/officeDocument/2006/relationships/image" Target="../media/image64.png"/><Relationship Id="rId23" Type="http://schemas.openxmlformats.org/officeDocument/2006/relationships/image" Target="../media/image65.png"/><Relationship Id="rId24" Type="http://schemas.openxmlformats.org/officeDocument/2006/relationships/image" Target="../media/image66.png"/><Relationship Id="rId25" Type="http://schemas.openxmlformats.org/officeDocument/2006/relationships/image" Target="../media/image67.png"/><Relationship Id="rId26" Type="http://schemas.openxmlformats.org/officeDocument/2006/relationships/image" Target="../media/image68.png"/><Relationship Id="rId27" Type="http://schemas.openxmlformats.org/officeDocument/2006/relationships/image" Target="../media/image69.png"/><Relationship Id="rId28" Type="http://schemas.openxmlformats.org/officeDocument/2006/relationships/image" Target="../media/image70.png"/><Relationship Id="rId29" Type="http://schemas.openxmlformats.org/officeDocument/2006/relationships/image" Target="../media/image71.png"/><Relationship Id="rId30" Type="http://schemas.openxmlformats.org/officeDocument/2006/relationships/image" Target="../media/image72.png"/><Relationship Id="rId31" Type="http://schemas.openxmlformats.org/officeDocument/2006/relationships/image" Target="../media/image73.png"/><Relationship Id="rId32" Type="http://schemas.openxmlformats.org/officeDocument/2006/relationships/image" Target="../media/image74.png"/><Relationship Id="rId33" Type="http://schemas.openxmlformats.org/officeDocument/2006/relationships/image" Target="../media/image7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Relationship Id="rId15" Type="http://schemas.openxmlformats.org/officeDocument/2006/relationships/image" Target="../media/image89.png"/><Relationship Id="rId16" Type="http://schemas.openxmlformats.org/officeDocument/2006/relationships/image" Target="../media/image90.png"/><Relationship Id="rId17" Type="http://schemas.openxmlformats.org/officeDocument/2006/relationships/image" Target="../media/image91.png"/><Relationship Id="rId18" Type="http://schemas.openxmlformats.org/officeDocument/2006/relationships/image" Target="../media/image92.png"/><Relationship Id="rId19" Type="http://schemas.openxmlformats.org/officeDocument/2006/relationships/image" Target="../media/image93.png"/><Relationship Id="rId20" Type="http://schemas.openxmlformats.org/officeDocument/2006/relationships/image" Target="../media/image94.png"/><Relationship Id="rId21" Type="http://schemas.openxmlformats.org/officeDocument/2006/relationships/image" Target="../media/image95.png"/><Relationship Id="rId22" Type="http://schemas.openxmlformats.org/officeDocument/2006/relationships/image" Target="../media/image96.png"/><Relationship Id="rId23" Type="http://schemas.openxmlformats.org/officeDocument/2006/relationships/image" Target="../media/image97.png"/><Relationship Id="rId24" Type="http://schemas.openxmlformats.org/officeDocument/2006/relationships/image" Target="../media/image98.png"/><Relationship Id="rId25" Type="http://schemas.openxmlformats.org/officeDocument/2006/relationships/image" Target="../media/image99.png"/><Relationship Id="rId26" Type="http://schemas.openxmlformats.org/officeDocument/2006/relationships/image" Target="../media/image100.png"/><Relationship Id="rId27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Relationship Id="rId12" Type="http://schemas.openxmlformats.org/officeDocument/2006/relationships/image" Target="../media/image112.png"/><Relationship Id="rId13" Type="http://schemas.openxmlformats.org/officeDocument/2006/relationships/image" Target="../media/image113.png"/><Relationship Id="rId14" Type="http://schemas.openxmlformats.org/officeDocument/2006/relationships/image" Target="../media/image114.png"/><Relationship Id="rId15" Type="http://schemas.openxmlformats.org/officeDocument/2006/relationships/image" Target="../media/image115.png"/><Relationship Id="rId16" Type="http://schemas.openxmlformats.org/officeDocument/2006/relationships/image" Target="../media/image116.png"/><Relationship Id="rId17" Type="http://schemas.openxmlformats.org/officeDocument/2006/relationships/image" Target="../media/image117.png"/><Relationship Id="rId18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atasets" descr="data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000"/>
            <a:ext cx="2520000" cy="1944000"/>
          </a:xfrm>
          <a:prstGeom prst="rect">
            <a:avLst/>
          </a:prstGeom>
        </p:spPr>
      </p:pic>
      <p:pic>
        <p:nvPicPr>
          <p:cNvPr id="3" name="storage" descr="sto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000" y="108000"/>
            <a:ext cx="1512000" cy="1944000"/>
          </a:xfrm>
          <a:prstGeom prst="rect">
            <a:avLst/>
          </a:prstGeom>
        </p:spPr>
      </p:pic>
      <p:pic>
        <p:nvPicPr>
          <p:cNvPr id="4" name="build_time" descr="build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000" y="108000"/>
            <a:ext cx="864000" cy="1944000"/>
          </a:xfrm>
          <a:prstGeom prst="rect">
            <a:avLst/>
          </a:prstGeom>
        </p:spPr>
      </p:pic>
      <p:pic>
        <p:nvPicPr>
          <p:cNvPr id="5" name="build_adds" descr="build_ad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000" y="108000"/>
            <a:ext cx="864000" cy="1944000"/>
          </a:xfrm>
          <a:prstGeom prst="rect">
            <a:avLst/>
          </a:prstGeom>
        </p:spPr>
      </p:pic>
      <p:pic>
        <p:nvPicPr>
          <p:cNvPr id="6" name="peak_memory" descr="peak_mem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000" y="108000"/>
            <a:ext cx="720000" cy="1944000"/>
          </a:xfrm>
          <a:prstGeom prst="rect">
            <a:avLst/>
          </a:prstGeom>
        </p:spPr>
      </p:pic>
      <p:pic>
        <p:nvPicPr>
          <p:cNvPr id="7" name="cells_storage" descr="cells_stor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32000"/>
            <a:ext cx="3096000" cy="1152000"/>
          </a:xfrm>
          <a:prstGeom prst="rect">
            <a:avLst/>
          </a:prstGeom>
        </p:spPr>
      </p:pic>
      <p:pic>
        <p:nvPicPr>
          <p:cNvPr id="8" name="cells_time" descr="cells_ti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384000"/>
            <a:ext cx="3096000" cy="1152000"/>
          </a:xfrm>
          <a:prstGeom prst="rect">
            <a:avLst/>
          </a:prstGeom>
        </p:spPr>
      </p:pic>
      <p:pic>
        <p:nvPicPr>
          <p:cNvPr id="9" name="cells_memory" descr="cells_mem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536000"/>
            <a:ext cx="3096000" cy="1368000"/>
          </a:xfrm>
          <a:prstGeom prst="rect">
            <a:avLst/>
          </a:prstGeom>
        </p:spPr>
      </p:pic>
      <p:pic>
        <p:nvPicPr>
          <p:cNvPr id="10" name="genes_storage" descr="genes_stor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2000" y="2232000"/>
            <a:ext cx="3096000" cy="1152000"/>
          </a:xfrm>
          <a:prstGeom prst="rect">
            <a:avLst/>
          </a:prstGeom>
        </p:spPr>
      </p:pic>
      <p:pic>
        <p:nvPicPr>
          <p:cNvPr id="11" name="genes_time" descr="genes_tim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2000" y="3384000"/>
            <a:ext cx="3096000" cy="1152000"/>
          </a:xfrm>
          <a:prstGeom prst="rect">
            <a:avLst/>
          </a:prstGeom>
        </p:spPr>
      </p:pic>
      <p:pic>
        <p:nvPicPr>
          <p:cNvPr id="12" name="genes_memory" descr="genes_memor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2000" y="4536000"/>
            <a:ext cx="3096000" cy="1368000"/>
          </a:xfrm>
          <a:prstGeom prst="rect">
            <a:avLst/>
          </a:prstGeom>
        </p:spPr>
      </p:pic>
      <p:pic>
        <p:nvPicPr>
          <p:cNvPr id="13" name="legend_tiers" descr="legend_tier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00" y="5958000"/>
            <a:ext cx="6408000" cy="18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0"/>
            <a:ext cx="144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0000" y="0"/>
            <a:ext cx="144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2000" y="0"/>
            <a:ext cx="144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2106000"/>
            <a:ext cx="144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2000" y="2106000"/>
            <a:ext cx="144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000" y="169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87k–817k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000" y="169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313–480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4000" y="169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705–9,558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000" y="169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2–18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4000" y="169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43–471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0885" y="3026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15×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1585" y="3026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8.8×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9909" y="4668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18×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9458" y="4668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8.9×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3839" y="6311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13×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8656" y="6311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8.9×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8844" y="7953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15×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9833" y="7953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8.9×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08720" y="9596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24×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1620" y="9596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8.4×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87912" y="11238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16×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11419" y="11238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9.2×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68582" y="12881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16×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95867" y="12881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8.7×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8751" y="14523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22×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742" y="14523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8.7×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86000" y="194400"/>
            <a:ext cx="8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Spindle (full build)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0000" y="194400"/>
            <a:ext cx="8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added over Spindle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4000" y="194400"/>
            <a:ext cx="7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all four indexes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000" y="210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Tonsil, 1.35M cells, 377 genes, subsampled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80000" y="210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Lymph node 5k, 6,972 index tiles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ming" descr="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00"/>
            <a:ext cx="3960000" cy="2520000"/>
          </a:xfrm>
          <a:prstGeom prst="rect">
            <a:avLst/>
          </a:prstGeom>
        </p:spPr>
      </p:pic>
      <p:pic>
        <p:nvPicPr>
          <p:cNvPr id="3" name="nx" descr="n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000" y="144000"/>
            <a:ext cx="2520000" cy="2520000"/>
          </a:xfrm>
          <a:prstGeom prst="rect">
            <a:avLst/>
          </a:prstGeom>
        </p:spPr>
      </p:pic>
      <p:pic>
        <p:nvPicPr>
          <p:cNvPr id="4" name="legend_timing" descr="legend_tim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" y="2700000"/>
            <a:ext cx="3168000" cy="288000"/>
          </a:xfrm>
          <a:prstGeom prst="rect">
            <a:avLst/>
          </a:prstGeom>
        </p:spPr>
      </p:pic>
      <p:pic>
        <p:nvPicPr>
          <p:cNvPr id="5" name="band" descr="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04000"/>
            <a:ext cx="2016000" cy="1872000"/>
          </a:xfrm>
          <a:prstGeom prst="rect">
            <a:avLst/>
          </a:prstGeom>
        </p:spPr>
      </p:pic>
      <p:pic>
        <p:nvPicPr>
          <p:cNvPr id="6" name="memory_breast_cancer" descr="memory_breast_canc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0000" y="3204000"/>
            <a:ext cx="2088000" cy="1872000"/>
          </a:xfrm>
          <a:prstGeom prst="rect">
            <a:avLst/>
          </a:prstGeom>
        </p:spPr>
      </p:pic>
      <p:pic>
        <p:nvPicPr>
          <p:cNvPr id="7" name="memory_brain_cancer" descr="memory_brain_canc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0000" y="3204000"/>
            <a:ext cx="2088000" cy="1872000"/>
          </a:xfrm>
          <a:prstGeom prst="rect">
            <a:avLst/>
          </a:prstGeom>
        </p:spPr>
      </p:pic>
      <p:pic>
        <p:nvPicPr>
          <p:cNvPr id="8" name="legend_memory" descr="legend_mem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2000" y="5076000"/>
            <a:ext cx="4176000" cy="3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060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3060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4000" y="54000"/>
            <a:ext cx="57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Speed-up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309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Breast, typical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0" y="3096000"/>
            <a:ext cx="7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Breast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0000" y="3096000"/>
            <a:ext cx="7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Brain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2000" y="2574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15×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2000" y="32724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4.5×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2000" y="52524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19×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2000" y="594719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4.6×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2000" y="793079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14×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2000" y="862559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4.4×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2000" y="10605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15×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2000" y="11304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3.9×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2000" y="13284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25×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2000" y="1398239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5.3×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2000" y="1596239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16×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2000" y="1665719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4.1×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2000" y="186408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14×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2000" y="19335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3.3×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2000" y="21315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29×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2000" y="22014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5.3×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5720" y="323748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D = 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1519" y="42447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D = 256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83400" y="35946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D = 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11800" y="384228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m = 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1439" y="33156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m = 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91240" y="33375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D = 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5720" y="385884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D = 256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14879" y="35046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D = 64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27720" y="34473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m =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54000" y="321840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m =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nd" descr="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00"/>
            <a:ext cx="2016000" cy="1656000"/>
          </a:xfrm>
          <a:prstGeom prst="rect">
            <a:avLst/>
          </a:prstGeom>
        </p:spPr>
      </p:pic>
      <p:pic>
        <p:nvPicPr>
          <p:cNvPr id="3" name="nx_size" descr="nx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000" y="144000"/>
            <a:ext cx="2016000" cy="1656000"/>
          </a:xfrm>
          <a:prstGeom prst="rect">
            <a:avLst/>
          </a:prstGeom>
        </p:spPr>
      </p:pic>
      <p:pic>
        <p:nvPicPr>
          <p:cNvPr id="4" name="overlap_size" descr="overlap_si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000" y="144000"/>
            <a:ext cx="2016000" cy="1656000"/>
          </a:xfrm>
          <a:prstGeom prst="rect">
            <a:avLst/>
          </a:prstGeom>
        </p:spPr>
      </p:pic>
      <p:pic>
        <p:nvPicPr>
          <p:cNvPr id="5" name="legend_nx" descr="legend_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8000" y="1800000"/>
            <a:ext cx="4320000" cy="216000"/>
          </a:xfrm>
          <a:prstGeom prst="rect">
            <a:avLst/>
          </a:prstGeom>
        </p:spPr>
      </p:pic>
      <p:pic>
        <p:nvPicPr>
          <p:cNvPr id="6" name="timing" descr="tim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32000"/>
            <a:ext cx="2448000" cy="2232000"/>
          </a:xfrm>
          <a:prstGeom prst="rect">
            <a:avLst/>
          </a:prstGeom>
        </p:spPr>
      </p:pic>
      <p:pic>
        <p:nvPicPr>
          <p:cNvPr id="7" name="nx" descr="n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8000" y="2232000"/>
            <a:ext cx="1584000" cy="2232000"/>
          </a:xfrm>
          <a:prstGeom prst="rect">
            <a:avLst/>
          </a:prstGeom>
        </p:spPr>
      </p:pic>
      <p:pic>
        <p:nvPicPr>
          <p:cNvPr id="8" name="storage" descr="stor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4000" y="2232000"/>
            <a:ext cx="1800000" cy="2232000"/>
          </a:xfrm>
          <a:prstGeom prst="rect">
            <a:avLst/>
          </a:prstGeom>
        </p:spPr>
      </p:pic>
      <p:pic>
        <p:nvPicPr>
          <p:cNvPr id="9" name="legend_timing" descr="legend_tim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536000"/>
            <a:ext cx="2520000" cy="288000"/>
          </a:xfrm>
          <a:prstGeom prst="rect">
            <a:avLst/>
          </a:prstGeom>
        </p:spPr>
      </p:pic>
      <p:pic>
        <p:nvPicPr>
          <p:cNvPr id="10" name="legend_storage" descr="legend_stor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2000" y="4536000"/>
            <a:ext cx="3240000" cy="28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200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400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2088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8000" y="2088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4000" y="2088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360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Breast, typical query, |S| =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4000" y="2124000"/>
            <a:ext cx="43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Speed-up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0000" y="236232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34×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0000" y="25941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34×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0000" y="282564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51×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0000" y="305748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46×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0000" y="328932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35×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70000" y="352116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46×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0000" y="375264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42×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0000" y="3984480"/>
            <a:ext cx="432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51×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ap_xenium" descr="map_xen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000"/>
            <a:ext cx="1512000" cy="2058120"/>
          </a:xfrm>
          <a:prstGeom prst="rect">
            <a:avLst/>
          </a:prstGeom>
        </p:spPr>
      </p:pic>
      <p:pic>
        <p:nvPicPr>
          <p:cNvPr id="3" name="map_visium" descr="map_vis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000" y="180000"/>
            <a:ext cx="1512000" cy="2058120"/>
          </a:xfrm>
          <a:prstGeom prst="rect">
            <a:avLst/>
          </a:prstGeom>
        </p:spPr>
      </p:pic>
      <p:pic>
        <p:nvPicPr>
          <p:cNvPr id="4" name="pca_raw" descr="pca_r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000" y="288000"/>
            <a:ext cx="1512000" cy="1440000"/>
          </a:xfrm>
          <a:prstGeom prst="rect">
            <a:avLst/>
          </a:prstGeom>
        </p:spPr>
      </p:pic>
      <p:pic>
        <p:nvPicPr>
          <p:cNvPr id="5" name="pca_corr" descr="pca_cor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000" y="288000"/>
            <a:ext cx="1512000" cy="1440000"/>
          </a:xfrm>
          <a:prstGeom prst="rect">
            <a:avLst/>
          </a:prstGeom>
        </p:spPr>
      </p:pic>
      <p:pic>
        <p:nvPicPr>
          <p:cNvPr id="6" name="legend_platform" descr="legend_platfo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0000" y="1800000"/>
            <a:ext cx="1440000" cy="180000"/>
          </a:xfrm>
          <a:prstGeom prst="rect">
            <a:avLst/>
          </a:prstGeom>
        </p:spPr>
      </p:pic>
      <p:pic>
        <p:nvPicPr>
          <p:cNvPr id="7" name="legend_class" descr="legend_cla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68000"/>
            <a:ext cx="6480000" cy="180000"/>
          </a:xfrm>
          <a:prstGeom prst="rect">
            <a:avLst/>
          </a:prstGeom>
        </p:spPr>
      </p:pic>
      <p:pic>
        <p:nvPicPr>
          <p:cNvPr id="8" name="tissue" descr="tiss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664000"/>
            <a:ext cx="1800000" cy="1656000"/>
          </a:xfrm>
          <a:prstGeom prst="rect">
            <a:avLst/>
          </a:prstGeom>
        </p:spPr>
      </p:pic>
      <p:pic>
        <p:nvPicPr>
          <p:cNvPr id="9" name="ablation" descr="abla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4000" y="2664000"/>
            <a:ext cx="1800000" cy="1656000"/>
          </a:xfrm>
          <a:prstGeom prst="rect">
            <a:avLst/>
          </a:prstGeom>
        </p:spPr>
      </p:pic>
      <p:pic>
        <p:nvPicPr>
          <p:cNvPr id="10" name="legend_direction" descr="legend_direc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000" y="4356000"/>
            <a:ext cx="2520000" cy="180000"/>
          </a:xfrm>
          <a:prstGeom prst="rect">
            <a:avLst/>
          </a:prstGeom>
        </p:spPr>
      </p:pic>
      <p:pic>
        <p:nvPicPr>
          <p:cNvPr id="11" name="ex_query" descr="ex_que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8000" y="2736000"/>
            <a:ext cx="864000" cy="864000"/>
          </a:xfrm>
          <a:prstGeom prst="rect">
            <a:avLst/>
          </a:prstGeom>
        </p:spPr>
      </p:pic>
      <p:pic>
        <p:nvPicPr>
          <p:cNvPr id="12" name="ex_hit1" descr="ex_hit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2000" y="2736000"/>
            <a:ext cx="864000" cy="864000"/>
          </a:xfrm>
          <a:prstGeom prst="rect">
            <a:avLst/>
          </a:prstGeom>
        </p:spPr>
      </p:pic>
      <p:pic>
        <p:nvPicPr>
          <p:cNvPr id="13" name="ex_hit2" descr="ex_hit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6000" y="2736000"/>
            <a:ext cx="864000" cy="864000"/>
          </a:xfrm>
          <a:prstGeom prst="rect">
            <a:avLst/>
          </a:prstGeom>
        </p:spPr>
      </p:pic>
      <p:pic>
        <p:nvPicPr>
          <p:cNvPr id="14" name="ex_hit3" descr="ex_hit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88000" y="3744000"/>
            <a:ext cx="864000" cy="864000"/>
          </a:xfrm>
          <a:prstGeom prst="rect">
            <a:avLst/>
          </a:prstGeom>
        </p:spPr>
      </p:pic>
      <p:pic>
        <p:nvPicPr>
          <p:cNvPr id="15" name="ex_hit4" descr="ex_hit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2000" y="3744000"/>
            <a:ext cx="864000" cy="864000"/>
          </a:xfrm>
          <a:prstGeom prst="rect">
            <a:avLst/>
          </a:prstGeom>
        </p:spPr>
      </p:pic>
      <p:pic>
        <p:nvPicPr>
          <p:cNvPr id="16" name="ex_hit5" descr="ex_hit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6000" y="3744000"/>
            <a:ext cx="864000" cy="86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000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2484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2000" y="2484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6000" y="2484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00" y="36000"/>
            <a:ext cx="57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Xenium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8000" y="36000"/>
            <a:ext cx="57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Visium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4000" y="14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Uncorrected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8000" y="14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Global shift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6000" y="2498400"/>
            <a:ext cx="259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Share of immune cells / spots (Xenium section: 22 %)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8000" y="26208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Query (Visium): 87 %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2000" y="26208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1: 53 %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6000" y="26208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2: 49 %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8000" y="36288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3: 63 %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2000" y="36288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4: 60 %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16000" y="36288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5 (co-located): 69 %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ap_niches" descr="map_ni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000"/>
            <a:ext cx="2160000" cy="1571040"/>
          </a:xfrm>
          <a:prstGeom prst="rect">
            <a:avLst/>
          </a:prstGeom>
        </p:spPr>
      </p:pic>
      <p:pic>
        <p:nvPicPr>
          <p:cNvPr id="3" name="legend_niche" descr="legend_nic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0000"/>
            <a:ext cx="2160000" cy="144000"/>
          </a:xfrm>
          <a:prstGeom prst="rect">
            <a:avLst/>
          </a:prstGeom>
        </p:spPr>
      </p:pic>
      <p:pic>
        <p:nvPicPr>
          <p:cNvPr id="4" name="niche_enrich" descr="niche_enri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2000" y="108000"/>
            <a:ext cx="2232000" cy="2016000"/>
          </a:xfrm>
          <a:prstGeom prst="rect">
            <a:avLst/>
          </a:prstGeom>
        </p:spPr>
      </p:pic>
      <p:pic>
        <p:nvPicPr>
          <p:cNvPr id="5" name="cbar_enrich" descr="cbar_enri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000" y="2142000"/>
            <a:ext cx="1080000" cy="252000"/>
          </a:xfrm>
          <a:prstGeom prst="rect">
            <a:avLst/>
          </a:prstGeom>
        </p:spPr>
      </p:pic>
      <p:pic>
        <p:nvPicPr>
          <p:cNvPr id="6" name="acta2" descr="acta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8000" y="180000"/>
            <a:ext cx="1368000" cy="1746000"/>
          </a:xfrm>
          <a:prstGeom prst="rect">
            <a:avLst/>
          </a:prstGeom>
        </p:spPr>
      </p:pic>
      <p:pic>
        <p:nvPicPr>
          <p:cNvPr id="7" name="cbar_acta2" descr="cbar_acta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6000" y="1962000"/>
            <a:ext cx="936000" cy="252000"/>
          </a:xfrm>
          <a:prstGeom prst="rect">
            <a:avLst/>
          </a:prstGeom>
        </p:spPr>
      </p:pic>
      <p:pic>
        <p:nvPicPr>
          <p:cNvPr id="8" name="corr_main" descr="corr_m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00" y="2664000"/>
            <a:ext cx="1728000" cy="1728000"/>
          </a:xfrm>
          <a:prstGeom prst="rect">
            <a:avLst/>
          </a:prstGeom>
        </p:spPr>
      </p:pic>
      <p:pic>
        <p:nvPicPr>
          <p:cNvPr id="9" name="corr_contrast" descr="corr_contra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4000" y="2664000"/>
            <a:ext cx="1728000" cy="1728000"/>
          </a:xfrm>
          <a:prstGeom prst="rect">
            <a:avLst/>
          </a:prstGeom>
        </p:spPr>
      </p:pic>
      <p:pic>
        <p:nvPicPr>
          <p:cNvPr id="10" name="cbar_corr" descr="cbar_cor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000" y="4428000"/>
            <a:ext cx="1080000" cy="252000"/>
          </a:xfrm>
          <a:prstGeom prst="rect">
            <a:avLst/>
          </a:prstGeom>
        </p:spPr>
      </p:pic>
      <p:pic>
        <p:nvPicPr>
          <p:cNvPr id="11" name="ex_query" descr="ex_que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5076000"/>
            <a:ext cx="360000" cy="360000"/>
          </a:xfrm>
          <a:prstGeom prst="rect">
            <a:avLst/>
          </a:prstGeom>
        </p:spPr>
      </p:pic>
      <p:pic>
        <p:nvPicPr>
          <p:cNvPr id="12" name="ex_hit1" descr="ex_hit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6000" y="5076000"/>
            <a:ext cx="360000" cy="360000"/>
          </a:xfrm>
          <a:prstGeom prst="rect">
            <a:avLst/>
          </a:prstGeom>
        </p:spPr>
      </p:pic>
      <p:pic>
        <p:nvPicPr>
          <p:cNvPr id="13" name="ex_hit2" descr="ex_hit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000" y="5076000"/>
            <a:ext cx="360000" cy="360000"/>
          </a:xfrm>
          <a:prstGeom prst="rect">
            <a:avLst/>
          </a:prstGeom>
        </p:spPr>
      </p:pic>
      <p:pic>
        <p:nvPicPr>
          <p:cNvPr id="14" name="ex_hit3" descr="ex_hit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8000" y="5076000"/>
            <a:ext cx="360000" cy="360000"/>
          </a:xfrm>
          <a:prstGeom prst="rect">
            <a:avLst/>
          </a:prstGeom>
        </p:spPr>
      </p:pic>
      <p:pic>
        <p:nvPicPr>
          <p:cNvPr id="15" name="ex_hit4" descr="ex_hit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84000" y="5076000"/>
            <a:ext cx="360000" cy="360000"/>
          </a:xfrm>
          <a:prstGeom prst="rect">
            <a:avLst/>
          </a:prstGeom>
        </p:spPr>
      </p:pic>
      <p:pic>
        <p:nvPicPr>
          <p:cNvPr id="16" name="ex_hit5" descr="ex_hit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80000" y="5076000"/>
            <a:ext cx="360000" cy="360000"/>
          </a:xfrm>
          <a:prstGeom prst="rect">
            <a:avLst/>
          </a:prstGeom>
        </p:spPr>
      </p:pic>
      <p:pic>
        <p:nvPicPr>
          <p:cNvPr id="17" name="ex_hit6" descr="ex_hit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6000" y="5580000"/>
            <a:ext cx="360000" cy="360000"/>
          </a:xfrm>
          <a:prstGeom prst="rect">
            <a:avLst/>
          </a:prstGeom>
        </p:spPr>
      </p:pic>
      <p:pic>
        <p:nvPicPr>
          <p:cNvPr id="18" name="ex_hit7" descr="ex_hit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2000" y="5580000"/>
            <a:ext cx="360000" cy="360000"/>
          </a:xfrm>
          <a:prstGeom prst="rect">
            <a:avLst/>
          </a:prstGeom>
        </p:spPr>
      </p:pic>
      <p:pic>
        <p:nvPicPr>
          <p:cNvPr id="19" name="ex_hit8" descr="ex_hit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8000" y="5580000"/>
            <a:ext cx="360000" cy="360000"/>
          </a:xfrm>
          <a:prstGeom prst="rect">
            <a:avLst/>
          </a:prstGeom>
        </p:spPr>
      </p:pic>
      <p:pic>
        <p:nvPicPr>
          <p:cNvPr id="20" name="ex_hit9" descr="ex_hit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84000" y="5580000"/>
            <a:ext cx="360000" cy="360000"/>
          </a:xfrm>
          <a:prstGeom prst="rect">
            <a:avLst/>
          </a:prstGeom>
        </p:spPr>
      </p:pic>
      <p:pic>
        <p:nvPicPr>
          <p:cNvPr id="21" name="ex_hit10" descr="ex_hit1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80000" y="5580000"/>
            <a:ext cx="360000" cy="360000"/>
          </a:xfrm>
          <a:prstGeom prst="rect">
            <a:avLst/>
          </a:prstGeom>
        </p:spPr>
      </p:pic>
      <p:pic>
        <p:nvPicPr>
          <p:cNvPr id="22" name="legend_class" descr="legend_class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084000"/>
            <a:ext cx="2376000" cy="324000"/>
          </a:xfrm>
          <a:prstGeom prst="rect">
            <a:avLst/>
          </a:prstGeom>
        </p:spPr>
      </p:pic>
      <p:pic>
        <p:nvPicPr>
          <p:cNvPr id="23" name="ex_comp" descr="ex_comp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48000" y="4896000"/>
            <a:ext cx="936000" cy="1440000"/>
          </a:xfrm>
          <a:prstGeom prst="rect">
            <a:avLst/>
          </a:prstGeom>
        </p:spPr>
      </p:pic>
      <p:pic>
        <p:nvPicPr>
          <p:cNvPr id="24" name="tv_base" descr="tv_bas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84000" y="4896000"/>
            <a:ext cx="864000" cy="1440000"/>
          </a:xfrm>
          <a:prstGeom prst="rect">
            <a:avLst/>
          </a:prstGeom>
        </p:spPr>
      </p:pic>
      <p:pic>
        <p:nvPicPr>
          <p:cNvPr id="25" name="sig_delta" descr="sig_delta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56000" y="4896000"/>
            <a:ext cx="1044000" cy="1440000"/>
          </a:xfrm>
          <a:prstGeom prst="rect">
            <a:avLst/>
          </a:prstGeom>
        </p:spPr>
      </p:pic>
      <p:pic>
        <p:nvPicPr>
          <p:cNvPr id="26" name="sig_cov" descr="sig_cov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00000" y="4896000"/>
            <a:ext cx="1044000" cy="1440000"/>
          </a:xfrm>
          <a:prstGeom prst="rect">
            <a:avLst/>
          </a:prstGeom>
        </p:spPr>
      </p:pic>
      <p:pic>
        <p:nvPicPr>
          <p:cNvPr id="27" name="legend_sig" descr="legend_sig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60000" y="4752000"/>
            <a:ext cx="1440000" cy="144000"/>
          </a:xfrm>
          <a:prstGeom prst="rect">
            <a:avLst/>
          </a:prstGeom>
        </p:spPr>
      </p:pic>
      <p:pic>
        <p:nvPicPr>
          <p:cNvPr id="28" name="covariation" descr="covariation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40000" y="180000"/>
            <a:ext cx="1728000" cy="1512000"/>
          </a:xfrm>
          <a:prstGeom prst="rect">
            <a:avLst/>
          </a:prstGeom>
        </p:spPr>
      </p:pic>
      <p:pic>
        <p:nvPicPr>
          <p:cNvPr id="29" name="legend_cov" descr="legend_cov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40000" y="1980000"/>
            <a:ext cx="1728000" cy="252000"/>
          </a:xfrm>
          <a:prstGeom prst="rect">
            <a:avLst/>
          </a:prstGeom>
        </p:spPr>
      </p:pic>
      <p:pic>
        <p:nvPicPr>
          <p:cNvPr id="30" name="sig_map_Endothelial_Vascular" descr="sig_map_Endothelial_Vascular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840000" y="2340000"/>
            <a:ext cx="1584000" cy="1152360"/>
          </a:xfrm>
          <a:prstGeom prst="rect">
            <a:avLst/>
          </a:prstGeom>
        </p:spPr>
      </p:pic>
      <p:pic>
        <p:nvPicPr>
          <p:cNvPr id="31" name="cbar_sig_Endothelial_Vascular" descr="cbar_sig_Endothelial_Vascular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40000" y="4140000"/>
            <a:ext cx="864000" cy="252000"/>
          </a:xfrm>
          <a:prstGeom prst="rect">
            <a:avLst/>
          </a:prstGeom>
        </p:spPr>
      </p:pic>
      <p:pic>
        <p:nvPicPr>
          <p:cNvPr id="32" name="sig_map_Proliferation_Signature" descr="sig_map_Proliferation_Signatur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840000" y="4500000"/>
            <a:ext cx="1584000" cy="1152360"/>
          </a:xfrm>
          <a:prstGeom prst="rect">
            <a:avLst/>
          </a:prstGeom>
        </p:spPr>
      </p:pic>
      <p:pic>
        <p:nvPicPr>
          <p:cNvPr id="33" name="cbar_sig_Proliferation_Signature" descr="cbar_sig_Proliferation_Signatur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840000" y="6300000"/>
            <a:ext cx="864000" cy="252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00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241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475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84000" y="475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88000" y="0"/>
            <a:ext cx="169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r with ACTA2 (○ same block)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68000" y="-18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Niche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8000" y="-18000"/>
            <a:ext cx="50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Section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66000" y="2160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log2 enrichment over section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000" y="2502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Arial"/>
              </a:rPr>
              <a:t>Niche 1, its blocks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4000" y="2502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Arial"/>
              </a:rPr>
              <a:t>Niche 2, in niche 1's order and blocks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84000" y="44568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Correlation (niche mean)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0000" y="4770000"/>
            <a:ext cx="21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Held-out query and its top 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0" y="54432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Query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6000" y="4968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000" y="4968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000" y="4968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84000" y="4968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80000" y="4968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6000" y="547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2000" y="547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000" y="547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84000" y="547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80000" y="547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0" y="3220044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0" y="3385667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0" y="3476760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0" y="3567853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0" y="3667226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0" y="3849412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0" y="3957067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0" y="4180658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44000" y="2484000"/>
            <a:ext cx="273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Co-varying blocks: hub genes; term (FDR), its block genes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44000" y="2628000"/>
            <a:ext cx="2736000" cy="18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  AQP1, PECAM1, VWF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2  CD3E, PTPRC, CCL5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    Allograft Rejection (FDR 1e-02): IL2RG, GZMA, CD8A, CCL5, CD3E, PTPRC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3  APOC1, CXCL16, PDK4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    Microglial Cell Activation (FDR 1e-02): CX3CR1, TYROBP, ITGAM, C1QA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4  FCER1G, LYZ, CD4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5  LUM, POSTN, CCDC80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    Epithelial Mesenchymal Transition (FDR 8e-07): FSTL3, BASP1, LRRC15, SFRP4, FBLN1, CXCL12, …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6  KRT14, MYLK, KRT5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    Intermediate Filament Organization (FDR 2e-03): KRT16, KRT15, KRT6B, KRT5, KRT14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7  TOP2A, RTKN2, PCLAF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    G2-M Checkpoint (FDR 3e-04): MKI67, TOP2A, CENPF, HMGA1, SQLE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8  ERBB2, EPCAM, CEACAM6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    Androgen Response (FDR 3e-02): SMS, TPD52, SCD, CCND1, KRT8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ig_map_Melanocyte_Tumor" descr="sig_map_Melanocyte_Tum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000"/>
            <a:ext cx="2088000" cy="988920"/>
          </a:xfrm>
          <a:prstGeom prst="rect">
            <a:avLst/>
          </a:prstGeom>
        </p:spPr>
      </p:pic>
      <p:pic>
        <p:nvPicPr>
          <p:cNvPr id="3" name="cbar_sig_Melanocyte_Tumor" descr="cbar_sig_Melanocyte_Tum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260000"/>
            <a:ext cx="792000" cy="252000"/>
          </a:xfrm>
          <a:prstGeom prst="rect">
            <a:avLst/>
          </a:prstGeom>
        </p:spPr>
      </p:pic>
      <p:pic>
        <p:nvPicPr>
          <p:cNvPr id="4" name="sig_map_Keratinocyte_Epidermis" descr="sig_map_Keratinocyte_Epiderm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6000" y="216000"/>
            <a:ext cx="2088000" cy="988920"/>
          </a:xfrm>
          <a:prstGeom prst="rect">
            <a:avLst/>
          </a:prstGeom>
        </p:spPr>
      </p:pic>
      <p:pic>
        <p:nvPicPr>
          <p:cNvPr id="5" name="cbar_sig_Keratinocyte_Epidermis" descr="cbar_sig_Keratinocyte_Epiderm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000" y="1260000"/>
            <a:ext cx="792000" cy="252000"/>
          </a:xfrm>
          <a:prstGeom prst="rect">
            <a:avLst/>
          </a:prstGeom>
        </p:spPr>
      </p:pic>
      <p:pic>
        <p:nvPicPr>
          <p:cNvPr id="6" name="sig_map_Immune_Infiltrate" descr="sig_map_Immune_Infiltr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2000" y="216000"/>
            <a:ext cx="2088000" cy="988920"/>
          </a:xfrm>
          <a:prstGeom prst="rect">
            <a:avLst/>
          </a:prstGeom>
        </p:spPr>
      </p:pic>
      <p:pic>
        <p:nvPicPr>
          <p:cNvPr id="7" name="cbar_sig_Immune_Infiltrate" descr="cbar_sig_Immune_Infiltr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0000" y="1260000"/>
            <a:ext cx="792000" cy="252000"/>
          </a:xfrm>
          <a:prstGeom prst="rect">
            <a:avLst/>
          </a:prstGeom>
        </p:spPr>
      </p:pic>
      <p:pic>
        <p:nvPicPr>
          <p:cNvPr id="8" name="ex_map" descr="ex_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908000"/>
            <a:ext cx="2160000" cy="1022760"/>
          </a:xfrm>
          <a:prstGeom prst="rect">
            <a:avLst/>
          </a:prstGeom>
        </p:spPr>
      </p:pic>
      <p:pic>
        <p:nvPicPr>
          <p:cNvPr id="9" name="legend_class" descr="legend_clas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988000"/>
            <a:ext cx="2160000" cy="144000"/>
          </a:xfrm>
          <a:prstGeom prst="rect">
            <a:avLst/>
          </a:prstGeom>
        </p:spPr>
      </p:pic>
      <p:pic>
        <p:nvPicPr>
          <p:cNvPr id="10" name="ex_query" descr="ex_que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8000" y="2250000"/>
            <a:ext cx="324000" cy="324000"/>
          </a:xfrm>
          <a:prstGeom prst="rect">
            <a:avLst/>
          </a:prstGeom>
        </p:spPr>
      </p:pic>
      <p:pic>
        <p:nvPicPr>
          <p:cNvPr id="11" name="ex_hit1" descr="ex_hit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4000" y="2016000"/>
            <a:ext cx="324000" cy="324000"/>
          </a:xfrm>
          <a:prstGeom prst="rect">
            <a:avLst/>
          </a:prstGeom>
        </p:spPr>
      </p:pic>
      <p:pic>
        <p:nvPicPr>
          <p:cNvPr id="12" name="ex_hit2" descr="ex_hit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2000" y="2016000"/>
            <a:ext cx="324000" cy="324000"/>
          </a:xfrm>
          <a:prstGeom prst="rect">
            <a:avLst/>
          </a:prstGeom>
        </p:spPr>
      </p:pic>
      <p:pic>
        <p:nvPicPr>
          <p:cNvPr id="13" name="ex_hit3" descr="ex_hit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0000" y="2016000"/>
            <a:ext cx="324000" cy="324000"/>
          </a:xfrm>
          <a:prstGeom prst="rect">
            <a:avLst/>
          </a:prstGeom>
        </p:spPr>
      </p:pic>
      <p:pic>
        <p:nvPicPr>
          <p:cNvPr id="14" name="ex_hit4" descr="ex_hit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98000" y="2016000"/>
            <a:ext cx="324000" cy="324000"/>
          </a:xfrm>
          <a:prstGeom prst="rect">
            <a:avLst/>
          </a:prstGeom>
        </p:spPr>
      </p:pic>
      <p:pic>
        <p:nvPicPr>
          <p:cNvPr id="15" name="ex_hit5" descr="ex_hit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76000" y="2016000"/>
            <a:ext cx="324000" cy="324000"/>
          </a:xfrm>
          <a:prstGeom prst="rect">
            <a:avLst/>
          </a:prstGeom>
        </p:spPr>
      </p:pic>
      <p:pic>
        <p:nvPicPr>
          <p:cNvPr id="16" name="ex_hit6" descr="ex_hit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64000" y="2484000"/>
            <a:ext cx="324000" cy="324000"/>
          </a:xfrm>
          <a:prstGeom prst="rect">
            <a:avLst/>
          </a:prstGeom>
        </p:spPr>
      </p:pic>
      <p:pic>
        <p:nvPicPr>
          <p:cNvPr id="17" name="ex_hit7" descr="ex_hit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2000" y="2484000"/>
            <a:ext cx="324000" cy="324000"/>
          </a:xfrm>
          <a:prstGeom prst="rect">
            <a:avLst/>
          </a:prstGeom>
        </p:spPr>
      </p:pic>
      <p:pic>
        <p:nvPicPr>
          <p:cNvPr id="18" name="ex_hit8" descr="ex_hit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20000" y="2484000"/>
            <a:ext cx="324000" cy="324000"/>
          </a:xfrm>
          <a:prstGeom prst="rect">
            <a:avLst/>
          </a:prstGeom>
        </p:spPr>
      </p:pic>
      <p:pic>
        <p:nvPicPr>
          <p:cNvPr id="19" name="ex_hit9" descr="ex_hit9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98000" y="2484000"/>
            <a:ext cx="324000" cy="324000"/>
          </a:xfrm>
          <a:prstGeom prst="rect">
            <a:avLst/>
          </a:prstGeom>
        </p:spPr>
      </p:pic>
      <p:pic>
        <p:nvPicPr>
          <p:cNvPr id="20" name="ex_hit10" descr="ex_hit1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6000" y="2484000"/>
            <a:ext cx="324000" cy="324000"/>
          </a:xfrm>
          <a:prstGeom prst="rect">
            <a:avLst/>
          </a:prstGeom>
        </p:spPr>
      </p:pic>
      <p:pic>
        <p:nvPicPr>
          <p:cNvPr id="21" name="ex_comp" descr="ex_comp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0" y="1764000"/>
            <a:ext cx="936000" cy="1440000"/>
          </a:xfrm>
          <a:prstGeom prst="rect">
            <a:avLst/>
          </a:prstGeom>
        </p:spPr>
      </p:pic>
      <p:pic>
        <p:nvPicPr>
          <p:cNvPr id="22" name="tv_base" descr="tv_bas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44000" y="1764000"/>
            <a:ext cx="864000" cy="1440000"/>
          </a:xfrm>
          <a:prstGeom prst="rect">
            <a:avLst/>
          </a:prstGeom>
        </p:spPr>
      </p:pic>
      <p:pic>
        <p:nvPicPr>
          <p:cNvPr id="23" name="legend_tiles" descr="legend_tiles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000" y="3456000"/>
            <a:ext cx="2088000" cy="144000"/>
          </a:xfrm>
          <a:prstGeom prst="rect">
            <a:avLst/>
          </a:prstGeom>
        </p:spPr>
      </p:pic>
      <p:pic>
        <p:nvPicPr>
          <p:cNvPr id="24" name="tiles_all" descr="tiles_all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3600000"/>
            <a:ext cx="2088000" cy="1584000"/>
          </a:xfrm>
          <a:prstGeom prst="rect">
            <a:avLst/>
          </a:prstGeom>
        </p:spPr>
      </p:pic>
      <p:pic>
        <p:nvPicPr>
          <p:cNvPr id="25" name="legend_lists" descr="legend_lists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00000" y="3456000"/>
            <a:ext cx="3240000" cy="144000"/>
          </a:xfrm>
          <a:prstGeom prst="rect">
            <a:avLst/>
          </a:prstGeom>
        </p:spPr>
      </p:pic>
      <p:pic>
        <p:nvPicPr>
          <p:cNvPr id="26" name="delta_all" descr="delta_all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196000" y="3600000"/>
            <a:ext cx="2088000" cy="1584000"/>
          </a:xfrm>
          <a:prstGeom prst="rect">
            <a:avLst/>
          </a:prstGeom>
        </p:spPr>
      </p:pic>
      <p:pic>
        <p:nvPicPr>
          <p:cNvPr id="27" name="lift_all" descr="lift_all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56000" y="3600000"/>
            <a:ext cx="2088000" cy="158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169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331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60000" y="331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0" y="331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000" y="18000"/>
            <a:ext cx="19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Arial"/>
              </a:rPr>
              <a:t>Melanocyte (8 genes)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0000" y="18000"/>
            <a:ext cx="19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Arial"/>
              </a:rPr>
              <a:t>Keratinocyte (4 genes)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6000" y="18000"/>
            <a:ext cx="19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Arial"/>
              </a:rPr>
              <a:t>Immune (5 genes)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1512000"/>
            <a:ext cx="43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Signature score; Spindle-partial's 10 nearest tiles outlined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4000" y="1908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42000" y="1908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0000" y="1908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8000" y="1908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76000" y="1908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64000" y="2376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42000" y="2376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0000" y="2376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8000" y="2376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6000" y="2376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000" y="1710000"/>
            <a:ext cx="21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Held-out query and its top 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68000" y="2592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Query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s_Myeloid" descr="rs_Myel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000"/>
            <a:ext cx="828000" cy="828000"/>
          </a:xfrm>
          <a:prstGeom prst="rect">
            <a:avLst/>
          </a:prstGeom>
        </p:spPr>
      </p:pic>
      <p:pic>
        <p:nvPicPr>
          <p:cNvPr id="3" name="grad_breast_cancer_Myeloid" descr="grad_breast_cancer_Myelo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00" y="288000"/>
            <a:ext cx="1296000" cy="942840"/>
          </a:xfrm>
          <a:prstGeom prst="rect">
            <a:avLst/>
          </a:prstGeom>
        </p:spPr>
      </p:pic>
      <p:pic>
        <p:nvPicPr>
          <p:cNvPr id="4" name="grad_lung_cancer_Myeloid" descr="grad_lung_cancer_Myel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000" y="288000"/>
            <a:ext cx="1728000" cy="564480"/>
          </a:xfrm>
          <a:prstGeom prst="rect">
            <a:avLst/>
          </a:prstGeom>
        </p:spPr>
      </p:pic>
      <p:pic>
        <p:nvPicPr>
          <p:cNvPr id="5" name="grad_pancreatic_cancer_Myeloid" descr="grad_pancreatic_cancer_Myelo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8000" y="979200"/>
            <a:ext cx="1728000" cy="512280"/>
          </a:xfrm>
          <a:prstGeom prst="rect">
            <a:avLst/>
          </a:prstGeom>
        </p:spPr>
      </p:pic>
      <p:pic>
        <p:nvPicPr>
          <p:cNvPr id="6" name="grad_brain_cancer_Myeloid" descr="grad_brain_cancer_Myelo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8000" y="288000"/>
            <a:ext cx="1116000" cy="1055880"/>
          </a:xfrm>
          <a:prstGeom prst="rect">
            <a:avLst/>
          </a:prstGeom>
        </p:spPr>
      </p:pic>
      <p:pic>
        <p:nvPicPr>
          <p:cNvPr id="7" name="grad_skin_melanoma_Myeloid" descr="grad_skin_melanoma_Myelo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000" y="288000"/>
            <a:ext cx="1188000" cy="562680"/>
          </a:xfrm>
          <a:prstGeom prst="rect">
            <a:avLst/>
          </a:prstGeom>
        </p:spPr>
      </p:pic>
      <p:pic>
        <p:nvPicPr>
          <p:cNvPr id="8" name="rs_Stromal_Perivascular" descr="rs_Stromal_Perivascul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692000"/>
            <a:ext cx="828000" cy="828000"/>
          </a:xfrm>
          <a:prstGeom prst="rect">
            <a:avLst/>
          </a:prstGeom>
        </p:spPr>
      </p:pic>
      <p:pic>
        <p:nvPicPr>
          <p:cNvPr id="9" name="grad_breast_cancer_Stromal_Perivascular" descr="grad_breast_cancer_Stromal_Perivascul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000" y="1548000"/>
            <a:ext cx="1296000" cy="942840"/>
          </a:xfrm>
          <a:prstGeom prst="rect">
            <a:avLst/>
          </a:prstGeom>
        </p:spPr>
      </p:pic>
      <p:pic>
        <p:nvPicPr>
          <p:cNvPr id="10" name="grad_lung_cancer_Stromal_Perivascular" descr="grad_lung_cancer_Stromal_Perivascul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8000" y="1548000"/>
            <a:ext cx="1728000" cy="564480"/>
          </a:xfrm>
          <a:prstGeom prst="rect">
            <a:avLst/>
          </a:prstGeom>
        </p:spPr>
      </p:pic>
      <p:pic>
        <p:nvPicPr>
          <p:cNvPr id="11" name="grad_pancreatic_cancer_Stromal_Perivascular" descr="grad_pancreatic_cancer_Stromal_Perivascula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68000" y="2239200"/>
            <a:ext cx="1728000" cy="512280"/>
          </a:xfrm>
          <a:prstGeom prst="rect">
            <a:avLst/>
          </a:prstGeom>
        </p:spPr>
      </p:pic>
      <p:pic>
        <p:nvPicPr>
          <p:cNvPr id="12" name="grad_brain_cancer_Stromal_Perivascular" descr="grad_brain_cancer_Stromal_Perivascula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8000" y="1548000"/>
            <a:ext cx="1116000" cy="1055880"/>
          </a:xfrm>
          <a:prstGeom prst="rect">
            <a:avLst/>
          </a:prstGeom>
        </p:spPr>
      </p:pic>
      <p:pic>
        <p:nvPicPr>
          <p:cNvPr id="13" name="grad_skin_melanoma_Stromal_Perivascular" descr="grad_skin_melanoma_Stromal_Perivascula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6000" y="1548000"/>
            <a:ext cx="1188000" cy="562680"/>
          </a:xfrm>
          <a:prstGeom prst="rect">
            <a:avLst/>
          </a:prstGeom>
        </p:spPr>
      </p:pic>
      <p:pic>
        <p:nvPicPr>
          <p:cNvPr id="14" name="cbar_rs" descr="cbar_r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2808000"/>
            <a:ext cx="864000" cy="252000"/>
          </a:xfrm>
          <a:prstGeom prst="rect">
            <a:avLst/>
          </a:prstGeom>
        </p:spPr>
      </p:pic>
      <p:pic>
        <p:nvPicPr>
          <p:cNvPr id="15" name="cbar_grad" descr="cbar_gra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12000" y="2808000"/>
            <a:ext cx="1080000" cy="252000"/>
          </a:xfrm>
          <a:prstGeom prst="rect">
            <a:avLst/>
          </a:prstGeom>
        </p:spPr>
      </p:pic>
      <p:pic>
        <p:nvPicPr>
          <p:cNvPr id="16" name="gain" descr="gai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3384000"/>
            <a:ext cx="3168000" cy="1512000"/>
          </a:xfrm>
          <a:prstGeom prst="rect">
            <a:avLst/>
          </a:prstGeom>
        </p:spPr>
      </p:pic>
      <p:pic>
        <p:nvPicPr>
          <p:cNvPr id="17" name="lift" descr="lif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76000" y="3384000"/>
            <a:ext cx="3168000" cy="1512000"/>
          </a:xfrm>
          <a:prstGeom prst="rect">
            <a:avLst/>
          </a:prstGeom>
        </p:spPr>
      </p:pic>
      <p:pic>
        <p:nvPicPr>
          <p:cNvPr id="18" name="legend_cd" descr="legend_c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00" y="4932000"/>
            <a:ext cx="6408000" cy="14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00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3240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6000" y="3240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" y="126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Breast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8000" y="126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Lung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8000" y="126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Brain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6000" y="126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Skin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2880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Myeloid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8000" y="86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Pancreas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15480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Stromal / perivascular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8000" y="212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Pancreas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30600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Query correlation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8000" y="2829600"/>
            <a:ext cx="50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Farther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8000" y="2829600"/>
            <a:ext cx="50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Nearer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2000" y="3060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Closeness to the query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